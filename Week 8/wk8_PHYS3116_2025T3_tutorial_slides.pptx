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9" r:id="rId5"/>
    <p:sldMasterId id="2147483681" r:id="rId6"/>
  </p:sldMasterIdLst>
  <p:notesMasterIdLst>
    <p:notesMasterId r:id="rId11"/>
  </p:notesMasterIdLst>
  <p:handoutMasterIdLst>
    <p:handoutMasterId r:id="rId12"/>
  </p:handoutMasterIdLst>
  <p:sldIdLst>
    <p:sldId id="258" r:id="rId7"/>
    <p:sldId id="298" r:id="rId8"/>
    <p:sldId id="299" r:id="rId9"/>
    <p:sldId id="30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35D"/>
    <a:srgbClr val="FFD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86781" autoAdjust="0"/>
  </p:normalViewPr>
  <p:slideViewPr>
    <p:cSldViewPr snapToGrid="0" snapToObjects="1">
      <p:cViewPr varScale="1">
        <p:scale>
          <a:sx n="109" d="100"/>
          <a:sy n="109" d="100"/>
        </p:scale>
        <p:origin x="936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55" d="100"/>
          <a:sy n="155" d="100"/>
        </p:scale>
        <p:origin x="5984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theme" Target="theme/theme1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425C8D-C5AF-9F4F-9E24-5C2DC72753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21E46C-AA4E-214A-A45C-A09C6AE0B0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442EA-0DF9-924B-8435-17D563E57ACA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AAFBB1-2BB3-DA46-A158-0722D5A310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7D7EA5-B09A-264C-ABF4-E27232AD2E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321C2-EC5F-E04A-AFC0-A1F418A559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3814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C955B6-3D2D-2944-B7F4-FE074C92CB41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46ACD0-BE8A-3D4B-8E89-B0E6ACFF59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73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057EB-C862-CEBF-CCDF-6B5688309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D3C7A5-97E5-F5FE-7952-EB32D8FF1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E5B4E-71D2-306B-3E2C-72BD7397B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C6753-C4AA-6C1A-DEF1-5DDD26AC0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944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98613-5FEB-88E1-49CF-A547796E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0889AE-60EC-4AFD-8F9A-DD968F0DF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17004-B03C-7D44-1B68-97DAF812B9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57DDE-0892-9F40-AA27-978817628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866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6F51-3311-9120-654E-DD57DA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D1989-F40D-008E-886B-EFD2EFA53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947F3-B82B-823A-A7C5-24A8BD296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51369-76D2-9EAA-8CA4-86B5424A2E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329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976E31-1EA1-274A-A1AD-5915E61D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UNSW Sydney Logo">
            <a:extLst>
              <a:ext uri="{FF2B5EF4-FFF2-40B4-BE49-F238E27FC236}">
                <a16:creationId xmlns:a16="http://schemas.microsoft.com/office/drawing/2014/main" id="{F0BF8575-4955-BC4A-80DE-4BF637C59C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593240" y="522000"/>
            <a:ext cx="1188000" cy="1240241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1960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FBC9DD3-2081-9D4A-BCDD-FD7DDC635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6367954-2926-486A-95D7-D57A05D0A1E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667151" y="5261593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8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385383" y="-277157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28400" y="0"/>
            <a:ext cx="6663600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87B7DB84-DBF6-43D5-A225-64A86E32A4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2071" y="5320585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362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D9F833-BA4F-E348-9506-0D3D621C75CA}"/>
              </a:ext>
            </a:extLst>
          </p:cNvPr>
          <p:cNvSpPr/>
          <p:nvPr userDrawn="1"/>
        </p:nvSpPr>
        <p:spPr>
          <a:xfrm>
            <a:off x="6740525" y="1"/>
            <a:ext cx="5453294" cy="501575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FF675AE0-8F62-485C-BF3D-6598839BAD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29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1E16058-FC97-C34C-A94D-1AEBA1319CEF}"/>
              </a:ext>
            </a:extLst>
          </p:cNvPr>
          <p:cNvSpPr/>
          <p:nvPr userDrawn="1"/>
        </p:nvSpPr>
        <p:spPr>
          <a:xfrm>
            <a:off x="1" y="0"/>
            <a:ext cx="12191999" cy="5000624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Shape, circle&#10;&#10;Description automatically generated">
            <a:extLst>
              <a:ext uri="{FF2B5EF4-FFF2-40B4-BE49-F238E27FC236}">
                <a16:creationId xmlns:a16="http://schemas.microsoft.com/office/drawing/2014/main" id="{B927EE41-A83A-A9AD-F2C3-0827F1440F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3024056">
            <a:off x="3583339" y="-257331"/>
            <a:ext cx="6243723" cy="7372662"/>
          </a:xfrm>
          <a:prstGeom prst="rect">
            <a:avLst/>
          </a:prstGeom>
        </p:spPr>
      </p:pic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21B83991-6CB1-46A6-A70E-59562F1A45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985" y="3515321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658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03B341F3-514D-F42F-D0AA-C75B36DDF5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59043" y="1428646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icon to add pictur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77E20C77-3D0A-4A35-878B-F3D37CBE052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04630" y="526455"/>
            <a:ext cx="1188000" cy="1240241"/>
          </a:xfrm>
          <a:prstGeom prst="rect">
            <a:avLst/>
          </a:prstGeom>
        </p:spPr>
      </p:pic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737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E4149BEC-B55D-3611-DBCF-0E9A57DC67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85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0014F36-07A5-3AE9-AB47-224C3C934A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93600" y="5419759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44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064B1A81-90D8-9D68-62EB-C2915DE66A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0400" y="275357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00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48171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 dirty="0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220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 descr="Click to edit body text styles on the left side of slide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 descr="Click to edit body text styles on the right side of slide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4800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 dirty="0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294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03AC5B-4BEF-3F81-2082-0A388541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</a:blip>
          <a:srcRect l="30378"/>
          <a:stretch/>
        </p:blipFill>
        <p:spPr>
          <a:xfrm rot="10800000">
            <a:off x="8269200" y="-1"/>
            <a:ext cx="3922800" cy="6069303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754870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1557173" y="-82749"/>
            <a:ext cx="5957925" cy="6417766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4212592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icon to add pictur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0497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55498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4918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589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3216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63237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77420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73841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17491040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253302" y="-398755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7000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0504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1293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6856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838487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1" y="0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8204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3813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">
            <a:extLst>
              <a:ext uri="{FF2B5EF4-FFF2-40B4-BE49-F238E27FC236}">
                <a16:creationId xmlns:a16="http://schemas.microsoft.com/office/drawing/2014/main" id="{70841D79-9C5E-1449-B506-564E0213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Title goes here</a:t>
            </a:r>
            <a:endParaRPr lang="en-US" dirty="0"/>
          </a:p>
        </p:txBody>
      </p:sp>
      <p:sp>
        <p:nvSpPr>
          <p:cNvPr id="3" name="Text Placeholder 2" descr="Click to add secondary details&#10;">
            <a:extLst>
              <a:ext uri="{FF2B5EF4-FFF2-40B4-BE49-F238E27FC236}">
                <a16:creationId xmlns:a16="http://schemas.microsoft.com/office/drawing/2014/main" id="{4A50093E-B476-CE4A-816B-226988C60D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392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2" r:id="rId3"/>
    <p:sldLayoutId id="2147483651" r:id="rId4"/>
    <p:sldLayoutId id="2147483653" r:id="rId5"/>
    <p:sldLayoutId id="2147483650" r:id="rId6"/>
    <p:sldLayoutId id="2147483746" r:id="rId7"/>
    <p:sldLayoutId id="2147483747" r:id="rId8"/>
    <p:sldLayoutId id="2147483748" r:id="rId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ct val="0"/>
        </a:spcBef>
        <a:buNone/>
        <a:defRPr sz="8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 typeface="Calibri" panose="020F0502020204030204" pitchFamily="34" charset="0"/>
        <a:buChar char="﻿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body text styles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3090FF-0D07-44EF-BE91-92BA9AB775B9}" type="datetimeFigureOut">
              <a:rPr lang="en-AU" smtClean="0"/>
              <a:t>6/11/2025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75D7-070A-4959-9224-FB5E66F2B1B3}" type="slidenum">
              <a:rPr lang="en-AU" smtClean="0"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7CA2B4-C8AB-4F09-B260-BA7609DF0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706290" y="372291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UNSW Sydney Logo">
            <a:extLst>
              <a:ext uri="{FF2B5EF4-FFF2-40B4-BE49-F238E27FC236}">
                <a16:creationId xmlns:a16="http://schemas.microsoft.com/office/drawing/2014/main" id="{84EF7EA2-D124-438C-BF7A-68B3D687830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88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3" r:id="rId2"/>
    <p:sldLayoutId id="2147483674" r:id="rId3"/>
    <p:sldLayoutId id="2147483675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6/11/2025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FD9B66-E5D8-458F-B15F-FCAE5CAD7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353696" y="3019698"/>
            <a:ext cx="6858002" cy="818606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NSW Sydney Logo">
            <a:extLst>
              <a:ext uri="{FF2B5EF4-FFF2-40B4-BE49-F238E27FC236}">
                <a16:creationId xmlns:a16="http://schemas.microsoft.com/office/drawing/2014/main" id="{725B2B7F-7BA2-426B-BEF7-9C26ECD9179C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15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5" r:id="rId2"/>
    <p:sldLayoutId id="2147483686" r:id="rId3"/>
    <p:sldLayoutId id="2147483687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12" r:id="rId10"/>
    <p:sldLayoutId id="2147483713" r:id="rId11"/>
    <p:sldLayoutId id="214748371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C31E8A-07CC-939B-F7AC-6A4366E11BF6}"/>
              </a:ext>
            </a:extLst>
          </p:cNvPr>
          <p:cNvSpPr txBox="1">
            <a:spLocks/>
          </p:cNvSpPr>
          <p:nvPr/>
        </p:nvSpPr>
        <p:spPr>
          <a:xfrm>
            <a:off x="10017457" y="5380672"/>
            <a:ext cx="2174543" cy="147732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Calibri" panose="020F0502020204030204" pitchFamily="34" charset="0"/>
              <a:buChar char="﻿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Blip>
                <a:blip r:embed="rId2"/>
              </a:buBlip>
            </a:pPr>
            <a:r>
              <a:rPr lang="en-US" dirty="0"/>
              <a:t>Fitting a Gaussian</a:t>
            </a:r>
          </a:p>
          <a:p>
            <a:pPr marL="285750" indent="-285750">
              <a:buBlip>
                <a:blip r:embed="rId2"/>
              </a:buBlip>
            </a:pPr>
            <a:r>
              <a:rPr lang="en-US" dirty="0"/>
              <a:t>Spectroscopic and photometric redshift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18E9F7F-51B7-148D-9969-67DFEC653597}"/>
              </a:ext>
            </a:extLst>
          </p:cNvPr>
          <p:cNvSpPr txBox="1">
            <a:spLocks/>
          </p:cNvSpPr>
          <p:nvPr/>
        </p:nvSpPr>
        <p:spPr>
          <a:xfrm>
            <a:off x="0" y="2168785"/>
            <a:ext cx="10017457" cy="252043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8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chemeClr val="accent6"/>
                </a:solidFill>
              </a:rPr>
              <a:t>Spotted Python</a:t>
            </a:r>
            <a:br>
              <a:rPr lang="en-US" b="1" dirty="0">
                <a:solidFill>
                  <a:schemeClr val="accent6"/>
                </a:solidFill>
              </a:rPr>
            </a:br>
            <a:r>
              <a:rPr lang="en-US" b="1" dirty="0">
                <a:solidFill>
                  <a:schemeClr val="accent5"/>
                </a:solidFill>
              </a:rPr>
              <a:t>Week 8 Tutorial</a:t>
            </a:r>
          </a:p>
        </p:txBody>
      </p:sp>
    </p:spTree>
    <p:extLst>
      <p:ext uri="{BB962C8B-B14F-4D97-AF65-F5344CB8AC3E}">
        <p14:creationId xmlns:p14="http://schemas.microsoft.com/office/powerpoint/2010/main" val="111043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73A52-2162-EE01-2FD9-2ABDAB9CB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4D5BCA2-5E5F-EF95-A420-F02773B3719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Spectroscopic Redshift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C712865-13D2-C995-77A0-0B1BDE05BC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</p:spPr>
            <p:txBody>
              <a:bodyPr vert="horz" lIns="360000" tIns="180000" rIns="360000" bIns="18000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Calibri" panose="020F0502020204030204" pitchFamily="34" charset="0"/>
                  <a:buChar char="﻿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30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4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Recall that redshift can be determined using the following:</a:t>
                </a:r>
              </a:p>
              <a:p>
                <a:pPr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A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AU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𝑜𝑏𝑠𝑒𝑟𝑣𝑒𝑑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𝑟𝑒𝑠𝑡</m:t>
                              </m:r>
                            </m:sub>
                          </m:sSub>
                        </m:den>
                      </m:f>
                      <m:r>
                        <a:rPr lang="en-AU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AU" dirty="0"/>
              </a:p>
              <a:p>
                <a:pPr marL="457200" marR="0" lvl="0" indent="-457200" algn="l" defTabSz="914400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Blip>
                    <a:blip r:embed="rId3"/>
                  </a:buBlip>
                  <a:tabLst/>
                  <a:defRPr/>
                </a:pPr>
                <a:r>
                  <a:rPr lang="en-AU" dirty="0">
                    <a:solidFill>
                      <a:srgbClr val="000000"/>
                    </a:solidFill>
                    <a:latin typeface="Roboto"/>
                  </a:rPr>
                  <a:t>List of emission lines are available here: </a:t>
                </a:r>
                <a:r>
                  <a:rPr lang="en-AU" dirty="0">
                    <a:solidFill>
                      <a:schemeClr val="accent5"/>
                    </a:solidFill>
                    <a:latin typeface="Roboto"/>
                  </a:rPr>
                  <a:t>http://</a:t>
                </a:r>
                <a:r>
                  <a:rPr lang="en-AU" dirty="0" err="1">
                    <a:solidFill>
                      <a:schemeClr val="accent5"/>
                    </a:solidFill>
                    <a:latin typeface="Roboto"/>
                  </a:rPr>
                  <a:t>astronomy.nmsu.edu</a:t>
                </a:r>
                <a:r>
                  <a:rPr lang="en-AU" dirty="0">
                    <a:solidFill>
                      <a:schemeClr val="accent5"/>
                    </a:solidFill>
                    <a:latin typeface="Roboto"/>
                  </a:rPr>
                  <a:t>/</a:t>
                </a:r>
                <a:r>
                  <a:rPr lang="en-AU" dirty="0" err="1">
                    <a:solidFill>
                      <a:schemeClr val="accent5"/>
                    </a:solidFill>
                    <a:latin typeface="Roboto"/>
                  </a:rPr>
                  <a:t>drewski</a:t>
                </a:r>
                <a:r>
                  <a:rPr lang="en-AU" dirty="0">
                    <a:solidFill>
                      <a:schemeClr val="accent5"/>
                    </a:solidFill>
                    <a:latin typeface="Roboto"/>
                  </a:rPr>
                  <a:t>/</a:t>
                </a:r>
                <a:r>
                  <a:rPr lang="en-AU" dirty="0" err="1">
                    <a:solidFill>
                      <a:schemeClr val="accent5"/>
                    </a:solidFill>
                    <a:latin typeface="Roboto"/>
                  </a:rPr>
                  <a:t>tableofemissionlines.html</a:t>
                </a:r>
                <a:r>
                  <a:rPr lang="en-AU" dirty="0">
                    <a:solidFill>
                      <a:schemeClr val="accent5"/>
                    </a:solidFill>
                    <a:latin typeface="Roboto"/>
                  </a:rPr>
                  <a:t>#:~:text=The%20ultraviolet%20and%20optical%20spectra,nature%20of%20the%20ionizing%20source.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C712865-13D2-C995-77A0-0B1BDE05B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5944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6DB00-3CCA-883F-B5FB-F0CEFE736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62D7492-E3F3-7434-2B56-4AEA37819B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Photometric Redshift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FE1854F-A164-A22A-4904-59EC6B2C8BA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</p:spPr>
            <p:txBody>
              <a:bodyPr vert="horz" lIns="360000" tIns="180000" rIns="360000" bIns="180000" rtlCol="0">
                <a:normAutofit lnSpcReduction="10000"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Calibri" panose="020F0502020204030204" pitchFamily="34" charset="0"/>
                  <a:buChar char="﻿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30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4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Faster but less accurate than spectroscopic redshift</a:t>
                </a:r>
              </a:p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Template fitting to a range of galaxy spectral energy distributions (SEDs)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Function of star formation history and the geometric arrangement of stars and gas content in galaxies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Energy versus wavelength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Fitting flux inputs of an object to a range of known spectra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Best fit is determined by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AU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AU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AU" dirty="0"/>
                  <a:t>minimisation process</a:t>
                </a:r>
              </a:p>
              <a:p>
                <a:pPr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A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AU" i="1">
                          <a:latin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AU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</m:e>
                                            <m:sub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𝐸</m:t>
                                              </m:r>
                                            </m:e>
                                            <m:sub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nary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FE1854F-A164-A22A-4904-59EC6B2C8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  <a:blipFill>
                <a:blip r:embed="rId4"/>
                <a:stretch>
                  <a:fillRect b="-28448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1016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A82CC-8434-960D-4C92-CD7FAE5FC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E89D879-6D85-9AFD-A112-E8EA0838305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Running EAZY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7FEA197-F36E-9DCA-DB25-A23881BB308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</p:spPr>
            <p:txBody>
              <a:bodyPr vert="horz" lIns="360000" tIns="180000" rIns="360000" bIns="18000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Calibri" panose="020F0502020204030204" pitchFamily="34" charset="0"/>
                  <a:buChar char="﻿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30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4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Easy and Accurate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𝑝h𝑜𝑡</m:t>
                        </m:r>
                      </m:sub>
                    </m:sSub>
                  </m:oMath>
                </a14:m>
                <a:r>
                  <a:rPr lang="en-AU" dirty="0"/>
                  <a:t> from Yale</a:t>
                </a:r>
              </a:p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Installing </a:t>
                </a:r>
                <a:r>
                  <a:rPr lang="en-AU" dirty="0" err="1"/>
                  <a:t>eazy-py</a:t>
                </a:r>
                <a:endParaRPr lang="en-AU" dirty="0"/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b="1" dirty="0">
                    <a:solidFill>
                      <a:schemeClr val="accent3"/>
                    </a:solidFill>
                  </a:rPr>
                  <a:t>cd (directory you want to download into)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b="1" dirty="0">
                    <a:solidFill>
                      <a:schemeClr val="accent3"/>
                    </a:solidFill>
                  </a:rPr>
                  <a:t>git clone https://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github.com</a:t>
                </a:r>
                <a:r>
                  <a:rPr lang="en-AU" b="1" dirty="0">
                    <a:solidFill>
                      <a:schemeClr val="accent3"/>
                    </a:solidFill>
                  </a:rPr>
                  <a:t>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gbrammer</a:t>
                </a:r>
                <a:r>
                  <a:rPr lang="en-AU" b="1" dirty="0">
                    <a:solidFill>
                      <a:schemeClr val="accent3"/>
                    </a:solidFill>
                  </a:rPr>
                  <a:t>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eazy-py.git</a:t>
                </a:r>
                <a:r>
                  <a:rPr lang="en-AU" b="1" dirty="0">
                    <a:solidFill>
                      <a:schemeClr val="accent3"/>
                    </a:solidFill>
                  </a:rPr>
                  <a:t> 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b="1" dirty="0">
                    <a:solidFill>
                      <a:schemeClr val="accent3"/>
                    </a:solidFill>
                  </a:rPr>
                  <a:t>cd 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eazy-py</a:t>
                </a:r>
                <a:endParaRPr lang="en-AU" b="1" dirty="0">
                  <a:solidFill>
                    <a:schemeClr val="accent3"/>
                  </a:solidFill>
                </a:endParaRP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b="1" dirty="0">
                    <a:solidFill>
                      <a:schemeClr val="accent3"/>
                    </a:solidFill>
                  </a:rPr>
                  <a:t>pip install . -r 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requirements.txt</a:t>
                </a:r>
                <a:endParaRPr lang="en-AU" b="1" dirty="0">
                  <a:solidFill>
                    <a:schemeClr val="accent3"/>
                  </a:solidFill>
                </a:endParaRPr>
              </a:p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Installing dust attenuation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b="1" dirty="0">
                    <a:solidFill>
                      <a:schemeClr val="accent3"/>
                    </a:solidFill>
                  </a:rPr>
                  <a:t>pip install 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git+https</a:t>
                </a:r>
                <a:r>
                  <a:rPr lang="en-AU" b="1" dirty="0">
                    <a:solidFill>
                      <a:schemeClr val="accent3"/>
                    </a:solidFill>
                  </a:rPr>
                  <a:t>://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github.com</a:t>
                </a:r>
                <a:r>
                  <a:rPr lang="en-AU" b="1" dirty="0">
                    <a:solidFill>
                      <a:schemeClr val="accent3"/>
                    </a:solidFill>
                  </a:rPr>
                  <a:t>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karllark</a:t>
                </a:r>
                <a:r>
                  <a:rPr lang="en-AU" b="1" dirty="0">
                    <a:solidFill>
                      <a:schemeClr val="accent3"/>
                    </a:solidFill>
                  </a:rPr>
                  <a:t>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dust_attenuation.git</a:t>
                </a:r>
                <a:endParaRPr lang="en-AU" b="1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7FEA197-F36E-9DCA-DB25-A23881BB3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782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54C697EB-31BA-594B-8371-830AA3B8DDF7}"/>
    </a:ext>
  </a:extLst>
</a:theme>
</file>

<file path=ppt/theme/theme2.xml><?xml version="1.0" encoding="utf-8"?>
<a:theme xmlns:a="http://schemas.openxmlformats.org/drawingml/2006/main" name="1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8D2F9C57-5267-5947-A8E1-1D6CBD5EA1CB}"/>
    </a:ext>
  </a:extLst>
</a:theme>
</file>

<file path=ppt/theme/theme3.xml><?xml version="1.0" encoding="utf-8"?>
<a:theme xmlns:a="http://schemas.openxmlformats.org/drawingml/2006/main" name="2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2513D8CB-3B6B-5547-A331-D7470A3DFC1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022E11B6C55F458F03297D129AC5C7" ma:contentTypeVersion="16" ma:contentTypeDescription="Create a new document." ma:contentTypeScope="" ma:versionID="c5de254797c2e30b1c1dab67e1fdd087">
  <xsd:schema xmlns:xsd="http://www.w3.org/2001/XMLSchema" xmlns:xs="http://www.w3.org/2001/XMLSchema" xmlns:p="http://schemas.microsoft.com/office/2006/metadata/properties" xmlns:ns2="3e861e5c-b9b4-4f4a-a39d-d4f58c595d50" xmlns:ns3="3d8a2230-54d9-4525-a072-aaf2ad3921af" targetNamespace="http://schemas.microsoft.com/office/2006/metadata/properties" ma:root="true" ma:fieldsID="40d7e893f6517adbc7421dea239a8bfb" ns2:_="" ns3:_="">
    <xsd:import namespace="3e861e5c-b9b4-4f4a-a39d-d4f58c595d50"/>
    <xsd:import namespace="3d8a2230-54d9-4525-a072-aaf2ad3921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861e5c-b9b4-4f4a-a39d-d4f58c595d5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b026aac-6b52-4d7e-a64d-f3ee90946f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8a2230-54d9-4525-a072-aaf2ad3921a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f9d5615-4cdb-4eba-9af8-b29b99cf6c5f}" ma:internalName="TaxCatchAll" ma:showField="CatchAllData" ma:web="3d8a2230-54d9-4525-a072-aaf2ad3921a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d8a2230-54d9-4525-a072-aaf2ad3921af" xsi:nil="true"/>
    <lcf76f155ced4ddcb4097134ff3c332f xmlns="3e861e5c-b9b4-4f4a-a39d-d4f58c595d50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CEC6E53-DE09-48B9-92A5-3EADF1FB28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e861e5c-b9b4-4f4a-a39d-d4f58c595d50"/>
    <ds:schemaRef ds:uri="3d8a2230-54d9-4525-a072-aaf2ad3921a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4CE31FE-9010-4DD9-ACBF-74A5EE27FA83}">
  <ds:schemaRefs>
    <ds:schemaRef ds:uri="http://schemas.microsoft.com/office/2006/metadata/properties"/>
    <ds:schemaRef ds:uri="http://schemas.microsoft.com/office/infopath/2007/PartnerControls"/>
    <ds:schemaRef ds:uri="3d8a2230-54d9-4525-a072-aaf2ad3921af"/>
    <ds:schemaRef ds:uri="3e861e5c-b9b4-4f4a-a39d-d4f58c595d50"/>
  </ds:schemaRefs>
</ds:datastoreItem>
</file>

<file path=customXml/itemProps3.xml><?xml version="1.0" encoding="utf-8"?>
<ds:datastoreItem xmlns:ds="http://schemas.openxmlformats.org/officeDocument/2006/customXml" ds:itemID="{76F36D4B-89AA-43AA-A4F8-41021B5395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12242</TotalTime>
  <Words>205</Words>
  <Application>Microsoft Macintosh PowerPoint</Application>
  <PresentationFormat>Widescreen</PresentationFormat>
  <Paragraphs>27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Clancy</vt:lpstr>
      <vt:lpstr>Arial</vt:lpstr>
      <vt:lpstr>Calibri</vt:lpstr>
      <vt:lpstr>Cambria Math</vt:lpstr>
      <vt:lpstr>Roboto</vt:lpstr>
      <vt:lpstr>Office Theme</vt:lpstr>
      <vt:lpstr>1_Custom Design</vt:lpstr>
      <vt:lpstr>2_Custom Design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Michelle Ding</dc:creator>
  <cp:lastModifiedBy>Michelle Ding</cp:lastModifiedBy>
  <cp:revision>22</cp:revision>
  <dcterms:created xsi:type="dcterms:W3CDTF">2024-09-05T14:10:30Z</dcterms:created>
  <dcterms:modified xsi:type="dcterms:W3CDTF">2025-11-06T02:54:12Z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0x010100F4022E11B6C55F458F03297D129AC5C7</vt:lpwstr>
  </property>
</Properties>
</file>