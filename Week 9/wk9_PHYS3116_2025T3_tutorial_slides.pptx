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9" r:id="rId5"/>
    <p:sldMasterId id="2147483681" r:id="rId6"/>
  </p:sldMasterIdLst>
  <p:notesMasterIdLst>
    <p:notesMasterId r:id="rId14"/>
  </p:notesMasterIdLst>
  <p:handoutMasterIdLst>
    <p:handoutMasterId r:id="rId15"/>
  </p:handoutMasterIdLst>
  <p:sldIdLst>
    <p:sldId id="258" r:id="rId7"/>
    <p:sldId id="299" r:id="rId8"/>
    <p:sldId id="300" r:id="rId9"/>
    <p:sldId id="301" r:id="rId10"/>
    <p:sldId id="302" r:id="rId11"/>
    <p:sldId id="303" r:id="rId12"/>
    <p:sldId id="30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35D"/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82" autoAdjust="0"/>
    <p:restoredTop sz="86749" autoAdjust="0"/>
  </p:normalViewPr>
  <p:slideViewPr>
    <p:cSldViewPr snapToGrid="0" snapToObjects="1">
      <p:cViewPr varScale="1">
        <p:scale>
          <a:sx n="95" d="100"/>
          <a:sy n="95" d="100"/>
        </p:scale>
        <p:origin x="208" y="4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55" d="100"/>
          <a:sy n="155" d="100"/>
        </p:scale>
        <p:origin x="598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4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425C8D-C5AF-9F4F-9E24-5C2DC72753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21E46C-AA4E-214A-A45C-A09C6AE0B0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442EA-0DF9-924B-8435-17D563E57ACA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AAFBB1-2BB3-DA46-A158-0722D5A310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D7EA5-B09A-264C-ABF4-E27232AD2E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321C2-EC5F-E04A-AFC0-A1F418A55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381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C955B6-3D2D-2944-B7F4-FE074C92CB4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46ACD0-BE8A-3D4B-8E89-B0E6ACFF59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8613-5FEB-88E1-49CF-A547796E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0889AE-60EC-4AFD-8F9A-DD968F0D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17004-B03C-7D44-1B68-97DAF812B9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57DDE-0892-9F40-AA27-978817628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866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6F51-3311-9120-654E-DD57DA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D1989-F40D-008E-886B-EFD2EFA53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947F3-B82B-823A-A7C5-24A8BD296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51369-76D2-9EAA-8CA4-86B5424A2E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329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812A4-FC80-CF99-01F1-D96DC50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D7D21-35B9-EFD0-0E50-E4B1B2AA2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5F4AAE-8802-64E7-FEDE-FEBA3247E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3FF30-E58E-A262-062C-2D13110A2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56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F7EE7-047B-36C8-F972-E8DFBA875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07A4E7-CE3F-B0DA-BE34-DDBEF7FBC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35251-F99A-34E1-2CA9-92B560537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59496-2B45-BE6C-C7BA-A3DC3B28D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984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3230-388C-342F-3CA8-57FF09B2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2A7BD-FE25-8367-3B03-3470438EE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915CF-DB43-E5BD-32A3-FC94F85CD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D9A99-AD22-8F4B-9FEA-78EEE8CF2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59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D191F-5A96-9E63-A06A-8698D0638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A4F0AA-9059-6ED1-C5C2-CC332CADD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387CE2-C011-8324-AA08-35C990F7E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44FD1-BF50-890E-5A81-A72C10FB17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46ACD0-BE8A-3D4B-8E89-B0E6ACFF59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797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976E31-1EA1-274A-A1AD-5915E61D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UNSW Sydney Logo">
            <a:extLst>
              <a:ext uri="{FF2B5EF4-FFF2-40B4-BE49-F238E27FC236}">
                <a16:creationId xmlns:a16="http://schemas.microsoft.com/office/drawing/2014/main" id="{F0BF8575-4955-BC4A-80DE-4BF637C59C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593240" y="522000"/>
            <a:ext cx="1188000" cy="1240241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1960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FBC9DD3-2081-9D4A-BCDD-FD7DDC635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233" y="0"/>
            <a:ext cx="2183586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6367954-2926-486A-95D7-D57A05D0A1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67151" y="5261593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385383" y="-277157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28400" y="0"/>
            <a:ext cx="6663600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87B7DB84-DBF6-43D5-A225-64A86E32A4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2071" y="5320585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362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1D9F833-BA4F-E348-9506-0D3D621C75CA}"/>
              </a:ext>
            </a:extLst>
          </p:cNvPr>
          <p:cNvSpPr/>
          <p:nvPr userDrawn="1"/>
        </p:nvSpPr>
        <p:spPr>
          <a:xfrm>
            <a:off x="6740525" y="1"/>
            <a:ext cx="5453294" cy="501575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FF675AE0-8F62-485C-BF3D-6598839BAD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29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E16058-FC97-C34C-A94D-1AEBA1319CEF}"/>
              </a:ext>
            </a:extLst>
          </p:cNvPr>
          <p:cNvSpPr/>
          <p:nvPr userDrawn="1"/>
        </p:nvSpPr>
        <p:spPr>
          <a:xfrm>
            <a:off x="1" y="0"/>
            <a:ext cx="12191999" cy="5000624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B927EE41-A83A-A9AD-F2C3-0827F1440F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3024056">
            <a:off x="3583339" y="-257331"/>
            <a:ext cx="6243723" cy="7372662"/>
          </a:xfrm>
          <a:prstGeom prst="rect">
            <a:avLst/>
          </a:prstGeom>
        </p:spPr>
      </p:pic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21B83991-6CB1-46A6-A70E-59562F1A45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85" y="3515321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58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03B341F3-514D-F42F-D0AA-C75B36DDF5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59043" y="1428646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icon to add pictur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77E20C77-3D0A-4A35-878B-F3D37CBE052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04630" y="526455"/>
            <a:ext cx="1188000" cy="1240241"/>
          </a:xfrm>
          <a:prstGeom prst="rect">
            <a:avLst/>
          </a:prstGeom>
        </p:spPr>
      </p:pic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73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E4149BEC-B55D-3611-DBCF-0E9A57DC67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35975" y="5300921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5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10014F36-07A5-3AE9-AB47-224C3C934A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93600" y="5419759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4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UNSW Sydney Logo">
            <a:extLst>
              <a:ext uri="{FF2B5EF4-FFF2-40B4-BE49-F238E27FC236}">
                <a16:creationId xmlns:a16="http://schemas.microsoft.com/office/drawing/2014/main" id="{064B1A81-90D8-9D68-62EB-C2915DE66A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10400" y="275357"/>
            <a:ext cx="1188000" cy="124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00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8171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 dirty="0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220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 descr="Click to edit body text styles on the left side of slide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 descr="Click to edit body text styles on the right side of slide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4800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 dirty="0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294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3AC5B-4BEF-3F81-2082-0A388541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</a:blip>
          <a:srcRect l="30378"/>
          <a:stretch/>
        </p:blipFill>
        <p:spPr>
          <a:xfrm rot="10800000">
            <a:off x="8269200" y="-1"/>
            <a:ext cx="3922800" cy="6069303"/>
          </a:xfrm>
          <a:prstGeom prst="rect">
            <a:avLst/>
          </a:prstGeom>
        </p:spPr>
      </p:pic>
      <p:sp>
        <p:nvSpPr>
          <p:cNvPr id="10" name="Title Placeholder 1" descr="Click to edit master title style&#10;">
            <a:extLst>
              <a:ext uri="{FF2B5EF4-FFF2-40B4-BE49-F238E27FC236}">
                <a16:creationId xmlns:a16="http://schemas.microsoft.com/office/drawing/2014/main" id="{86AF8517-E0F0-4998-8AA8-25A0DD8E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2" descr="Click to add secondary details&#10;">
            <a:extLst>
              <a:ext uri="{FF2B5EF4-FFF2-40B4-BE49-F238E27FC236}">
                <a16:creationId xmlns:a16="http://schemas.microsoft.com/office/drawing/2014/main" id="{D34C583A-86D7-4AD9-912C-AA86DC35455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33754870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1557173" y="-82749"/>
            <a:ext cx="5957925" cy="6417766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42125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icon to add pictur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497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55498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4918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589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D3B421E-C230-4985-A55F-249E471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1106-1747-47C6-AD4D-1ED87203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EE6605EE-6C12-4B09-B328-5FC771964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39B7F1C5-E024-4AB0-B408-32F5C1A10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59489FD8-71FE-4137-8FE6-DC2A193C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216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E085695-8E0F-403A-9CD7-62C032F7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 descr="Click to edit body text styles on the left side of slide">
            <a:extLst>
              <a:ext uri="{FF2B5EF4-FFF2-40B4-BE49-F238E27FC236}">
                <a16:creationId xmlns:a16="http://schemas.microsoft.com/office/drawing/2014/main" id="{FC05A9F9-AE68-4F94-9E5E-068EE37349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 descr="Click to edit body text styles on the right side of slide">
            <a:extLst>
              <a:ext uri="{FF2B5EF4-FFF2-40B4-BE49-F238E27FC236}">
                <a16:creationId xmlns:a16="http://schemas.microsoft.com/office/drawing/2014/main" id="{C93A7560-CAFD-4E61-95FB-BDA485201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Date Placeholder 4" descr="Click to add date Day/Month/Year">
            <a:extLst>
              <a:ext uri="{FF2B5EF4-FFF2-40B4-BE49-F238E27FC236}">
                <a16:creationId xmlns:a16="http://schemas.microsoft.com/office/drawing/2014/main" id="{99DDD9F1-1A2C-48B2-B5C9-C73A7289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6" name="Footer Placeholder 5" descr="Click to add a footer">
            <a:extLst>
              <a:ext uri="{FF2B5EF4-FFF2-40B4-BE49-F238E27FC236}">
                <a16:creationId xmlns:a16="http://schemas.microsoft.com/office/drawing/2014/main" id="{6B3D520C-6BAD-40E9-A2B0-8BFA83635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7" name="Slide Number Placeholder 6" descr="Click to add page number">
            <a:extLst>
              <a:ext uri="{FF2B5EF4-FFF2-40B4-BE49-F238E27FC236}">
                <a16:creationId xmlns:a16="http://schemas.microsoft.com/office/drawing/2014/main" id="{6E604E87-51E9-4833-AA93-39FB9ED72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6323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915C9467-6CA3-4111-A4AE-FFD0F459C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subheading style on the left hand side of slide">
            <a:extLst>
              <a:ext uri="{FF2B5EF4-FFF2-40B4-BE49-F238E27FC236}">
                <a16:creationId xmlns:a16="http://schemas.microsoft.com/office/drawing/2014/main" id="{CE09CDFA-8C89-4FC7-83CB-4B6BD3F03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0D324-2CEE-48D7-AB8D-9EB56FF32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 descr="Click to edit subheading style on the right hand side of slide">
            <a:extLst>
              <a:ext uri="{FF2B5EF4-FFF2-40B4-BE49-F238E27FC236}">
                <a16:creationId xmlns:a16="http://schemas.microsoft.com/office/drawing/2014/main" id="{535C84E4-E747-422F-823D-ABB103E226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CBDB2-558E-4410-815E-BC17CE86E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 descr="Click to add date Day/Month/Year">
            <a:extLst>
              <a:ext uri="{FF2B5EF4-FFF2-40B4-BE49-F238E27FC236}">
                <a16:creationId xmlns:a16="http://schemas.microsoft.com/office/drawing/2014/main" id="{7BD73ABA-F022-4A2D-BC50-6EFA1A189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8" name="Footer Placeholder 7" descr="Click to add a footer">
            <a:extLst>
              <a:ext uri="{FF2B5EF4-FFF2-40B4-BE49-F238E27FC236}">
                <a16:creationId xmlns:a16="http://schemas.microsoft.com/office/drawing/2014/main" id="{0119AFDB-C42E-463D-B00B-B7C3F2C1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Slide Number Placeholder 8" descr="Click to add page number">
            <a:extLst>
              <a:ext uri="{FF2B5EF4-FFF2-40B4-BE49-F238E27FC236}">
                <a16:creationId xmlns:a16="http://schemas.microsoft.com/office/drawing/2014/main" id="{3508F5CF-1000-4107-8B86-35440324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20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Click to edit master title style&#10;">
            <a:extLst>
              <a:ext uri="{FF2B5EF4-FFF2-40B4-BE49-F238E27FC236}">
                <a16:creationId xmlns:a16="http://schemas.microsoft.com/office/drawing/2014/main" id="{3CB7D6A8-8593-4C21-938E-8349B6D2F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Date Placeholder 2" descr="Click to add date Day/Month/Year">
            <a:extLst>
              <a:ext uri="{FF2B5EF4-FFF2-40B4-BE49-F238E27FC236}">
                <a16:creationId xmlns:a16="http://schemas.microsoft.com/office/drawing/2014/main" id="{3F9A56A4-BCFE-444A-B799-3003156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4" name="Footer Placeholder 3" descr="Click to add a footer">
            <a:extLst>
              <a:ext uri="{FF2B5EF4-FFF2-40B4-BE49-F238E27FC236}">
                <a16:creationId xmlns:a16="http://schemas.microsoft.com/office/drawing/2014/main" id="{33661598-FDFF-4254-A4A3-B4A979362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Slide Number Placeholder 4" descr="Click to add page number">
            <a:extLst>
              <a:ext uri="{FF2B5EF4-FFF2-40B4-BE49-F238E27FC236}">
                <a16:creationId xmlns:a16="http://schemas.microsoft.com/office/drawing/2014/main" id="{FF24BB6E-0C9C-4308-81D1-8B331EC18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7384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17491040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350A-B2F4-79AE-53AE-78E33FFD6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894683">
            <a:off x="1253302" y="-398755"/>
            <a:ext cx="4736592" cy="6444871"/>
          </a:xfrm>
          <a:prstGeom prst="rect">
            <a:avLst/>
          </a:prstGeom>
        </p:spPr>
      </p:pic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0" y="-1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7000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0504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D58515C2-9BB5-4C9A-BBC5-7F4A491DD6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2D2519EB-A5E4-4600-B620-DAE568D0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211200"/>
            <a:ext cx="11268000" cy="1785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293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B341F3-514D-F42F-D0AA-C75B36DDF5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3685278">
            <a:off x="649418" y="1428645"/>
            <a:ext cx="5544134" cy="7503507"/>
          </a:xfrm>
          <a:prstGeom prst="rect">
            <a:avLst/>
          </a:prstGeom>
        </p:spPr>
      </p:pic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92413593-DCD0-42A0-AE48-665AD86AE6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7D37E0CB-DF2A-4FFC-85FC-AD9C7ED63B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84800" y="-2"/>
            <a:ext cx="5407200" cy="6858001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9EC0BA0E-E5B8-41F6-813F-C9A458BE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805" y="2624399"/>
            <a:ext cx="6244621" cy="2556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>
              <a:defRPr sz="8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5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177DF-154E-A742-8FEF-9A9493EAB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635519">
            <a:off x="434031" y="-748389"/>
            <a:ext cx="7756149" cy="8354779"/>
          </a:xfrm>
          <a:prstGeom prst="rect">
            <a:avLst/>
          </a:prstGeom>
        </p:spPr>
      </p:pic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C5886A02-1DE7-4D1F-812D-8E48DA31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2" descr="Click to add secondary details&#10;">
            <a:extLst>
              <a:ext uri="{FF2B5EF4-FFF2-40B4-BE49-F238E27FC236}">
                <a16:creationId xmlns:a16="http://schemas.microsoft.com/office/drawing/2014/main" id="{3BBAF8E8-6BD7-44A0-90FF-4167695E26A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</p:spTree>
    <p:extLst>
      <p:ext uri="{BB962C8B-B14F-4D97-AF65-F5344CB8AC3E}">
        <p14:creationId xmlns:p14="http://schemas.microsoft.com/office/powerpoint/2010/main" val="838487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 descr="Click to add secondary details&#10;">
            <a:extLst>
              <a:ext uri="{FF2B5EF4-FFF2-40B4-BE49-F238E27FC236}">
                <a16:creationId xmlns:a16="http://schemas.microsoft.com/office/drawing/2014/main" id="{B5638188-B406-48E0-8C3F-15ACD21F3D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98000" y="5011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3" name="Picture Placeholder 2" descr="Click picture icon to add an image">
            <a:extLst>
              <a:ext uri="{FF2B5EF4-FFF2-40B4-BE49-F238E27FC236}">
                <a16:creationId xmlns:a16="http://schemas.microsoft.com/office/drawing/2014/main" id="{2990D705-58F1-4621-96D0-F0B963892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43551" y="0"/>
            <a:ext cx="6663600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  <p:sp>
        <p:nvSpPr>
          <p:cNvPr id="5" name="Title Placeholder 1" descr="Click to edit master title style&#10;">
            <a:extLst>
              <a:ext uri="{FF2B5EF4-FFF2-40B4-BE49-F238E27FC236}">
                <a16:creationId xmlns:a16="http://schemas.microsoft.com/office/drawing/2014/main" id="{731F86E2-22A6-454C-8159-2DC19FE6F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4812231" cy="495616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82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 descr="Click to edit master title style&#10;">
            <a:extLst>
              <a:ext uri="{FF2B5EF4-FFF2-40B4-BE49-F238E27FC236}">
                <a16:creationId xmlns:a16="http://schemas.microsoft.com/office/drawing/2014/main" id="{A531F2A4-2E25-476F-BA2C-2F1534A5A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0" y="0"/>
            <a:ext cx="5353819" cy="501575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Click to edit</a:t>
            </a:r>
            <a:endParaRPr lang="en-US" dirty="0"/>
          </a:p>
        </p:txBody>
      </p:sp>
      <p:sp>
        <p:nvSpPr>
          <p:cNvPr id="5" name="Text Placeholder 2" descr="Click to add secondary details&#10;">
            <a:extLst>
              <a:ext uri="{FF2B5EF4-FFF2-40B4-BE49-F238E27FC236}">
                <a16:creationId xmlns:a16="http://schemas.microsoft.com/office/drawing/2014/main" id="{101CB2D6-9770-4776-A129-B761AA34E3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5200" y="51696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Secondary details go here</a:t>
            </a:r>
          </a:p>
        </p:txBody>
      </p:sp>
      <p:sp>
        <p:nvSpPr>
          <p:cNvPr id="6" name="Picture Placeholder 2" descr="Click picture icon to add an image">
            <a:extLst>
              <a:ext uri="{FF2B5EF4-FFF2-40B4-BE49-F238E27FC236}">
                <a16:creationId xmlns:a16="http://schemas.microsoft.com/office/drawing/2014/main" id="{93161D9F-A3DE-495E-AC64-CC914469DD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4551"/>
            <a:ext cx="6740525" cy="50112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3813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">
            <a:extLst>
              <a:ext uri="{FF2B5EF4-FFF2-40B4-BE49-F238E27FC236}">
                <a16:creationId xmlns:a16="http://schemas.microsoft.com/office/drawing/2014/main" id="{70841D79-9C5E-1449-B506-564E0213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345600"/>
            <a:ext cx="7858800" cy="3477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GB" dirty="0"/>
              <a:t>Title goes here</a:t>
            </a:r>
            <a:endParaRPr lang="en-US" dirty="0"/>
          </a:p>
        </p:txBody>
      </p:sp>
      <p:sp>
        <p:nvSpPr>
          <p:cNvPr id="3" name="Text Placeholder 2" descr="Click to add secondary details&#10;">
            <a:extLst>
              <a:ext uri="{FF2B5EF4-FFF2-40B4-BE49-F238E27FC236}">
                <a16:creationId xmlns:a16="http://schemas.microsoft.com/office/drawing/2014/main" id="{4A50093E-B476-CE4A-816B-226988C60D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0400" y="6289200"/>
            <a:ext cx="4730400" cy="37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3925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2" r:id="rId3"/>
    <p:sldLayoutId id="2147483651" r:id="rId4"/>
    <p:sldLayoutId id="2147483653" r:id="rId5"/>
    <p:sldLayoutId id="2147483650" r:id="rId6"/>
    <p:sldLayoutId id="2147483746" r:id="rId7"/>
    <p:sldLayoutId id="2147483747" r:id="rId8"/>
    <p:sldLayoutId id="2147483748" r:id="rId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 typeface="Calibri" panose="020F0502020204030204" pitchFamily="34" charset="0"/>
        <a:buChar char="﻿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 descr="Click to edit body text styles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3090FF-0D07-44EF-BE91-92BA9AB775B9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75D7-070A-4959-9224-FB5E66F2B1B3}" type="slidenum">
              <a:rPr lang="en-AU" smtClean="0"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A2B4-C8AB-4F09-B260-BA7609DF0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706290" y="372291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UNSW Sydney Logo">
            <a:extLst>
              <a:ext uri="{FF2B5EF4-FFF2-40B4-BE49-F238E27FC236}">
                <a16:creationId xmlns:a16="http://schemas.microsoft.com/office/drawing/2014/main" id="{84EF7EA2-D124-438C-BF7A-68B3D68783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8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3" r:id="rId2"/>
    <p:sldLayoutId id="2147483674" r:id="rId3"/>
    <p:sldLayoutId id="2147483675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 descr="Click to edit master title style&#10;">
            <a:extLst>
              <a:ext uri="{FF2B5EF4-FFF2-40B4-BE49-F238E27FC236}">
                <a16:creationId xmlns:a16="http://schemas.microsoft.com/office/drawing/2014/main" id="{8CE664CD-741D-4C8B-81A1-8F813AD1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9109C-5296-411A-BFAE-02503EAE8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 descr="Click to add date Day/Month/Year">
            <a:extLst>
              <a:ext uri="{FF2B5EF4-FFF2-40B4-BE49-F238E27FC236}">
                <a16:creationId xmlns:a16="http://schemas.microsoft.com/office/drawing/2014/main" id="{127DF911-AF5C-4E26-A571-BA8DB3C794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2A3090FF-0D07-44EF-BE91-92BA9AB775B9}" type="datetimeFigureOut">
              <a:rPr lang="en-AU" smtClean="0"/>
              <a:pPr/>
              <a:t>13/11/2025</a:t>
            </a:fld>
            <a:endParaRPr lang="en-AU"/>
          </a:p>
        </p:txBody>
      </p:sp>
      <p:sp>
        <p:nvSpPr>
          <p:cNvPr id="5" name="Footer Placeholder 4" descr="Click to add a footer">
            <a:extLst>
              <a:ext uri="{FF2B5EF4-FFF2-40B4-BE49-F238E27FC236}">
                <a16:creationId xmlns:a16="http://schemas.microsoft.com/office/drawing/2014/main" id="{28AD8E53-B55F-4650-ADAB-27193A719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 descr="Click to add page number">
            <a:extLst>
              <a:ext uri="{FF2B5EF4-FFF2-40B4-BE49-F238E27FC236}">
                <a16:creationId xmlns:a16="http://schemas.microsoft.com/office/drawing/2014/main" id="{9DADCEA8-03AE-46AA-AD1B-6B051BA05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09375D7-070A-4959-9224-FB5E66F2B1B3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FD9B66-E5D8-458F-B15F-FCAE5CAD7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353696" y="3019698"/>
            <a:ext cx="6858002" cy="818606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NSW Sydney Logo">
            <a:extLst>
              <a:ext uri="{FF2B5EF4-FFF2-40B4-BE49-F238E27FC236}">
                <a16:creationId xmlns:a16="http://schemas.microsoft.com/office/drawing/2014/main" id="{725B2B7F-7BA2-426B-BEF7-9C26ECD9179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1526898" y="6196827"/>
            <a:ext cx="540000" cy="56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15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5" r:id="rId2"/>
    <p:sldLayoutId id="2147483686" r:id="rId3"/>
    <p:sldLayoutId id="2147483687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12" r:id="rId10"/>
    <p:sldLayoutId id="2147483713" r:id="rId11"/>
    <p:sldLayoutId id="214748371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Calibri" panose="020F0502020204030204" pitchFamily="34" charset="0"/>
        <a:buChar char="﻿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44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Relationship Id="rId5" Type="http://schemas.openxmlformats.org/officeDocument/2006/relationships/hyperlink" Target="https://numpy.org/doc/1.15/reference/generated/numpy.trapz.html" TargetMode="External"/><Relationship Id="rId4" Type="http://schemas.openxmlformats.org/officeDocument/2006/relationships/hyperlink" Target="https://docs.scipy.org/doc/scipy/tutorial/integrate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5" Type="http://schemas.openxmlformats.org/officeDocument/2006/relationships/hyperlink" Target="https://docs.astropy.org/en/stable/cosmology/index.html" TargetMode="External"/><Relationship Id="rId4" Type="http://schemas.openxmlformats.org/officeDocument/2006/relationships/hyperlink" Target="https://cosmocalc.icrar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5C31E8A-07CC-939B-F7AC-6A4366E11BF6}"/>
              </a:ext>
            </a:extLst>
          </p:cNvPr>
          <p:cNvSpPr txBox="1">
            <a:spLocks/>
          </p:cNvSpPr>
          <p:nvPr/>
        </p:nvSpPr>
        <p:spPr>
          <a:xfrm>
            <a:off x="10017457" y="5380672"/>
            <a:ext cx="2174543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Calibri" panose="020F0502020204030204" pitchFamily="34" charset="0"/>
              <a:buChar char="﻿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Blip>
                <a:blip r:embed="rId2"/>
              </a:buBlip>
            </a:pPr>
            <a:r>
              <a:rPr lang="en-US" dirty="0"/>
              <a:t>Photometric redshift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18E9F7F-51B7-148D-9969-67DFEC653597}"/>
              </a:ext>
            </a:extLst>
          </p:cNvPr>
          <p:cNvSpPr txBox="1">
            <a:spLocks/>
          </p:cNvSpPr>
          <p:nvPr/>
        </p:nvSpPr>
        <p:spPr>
          <a:xfrm>
            <a:off x="0" y="2168785"/>
            <a:ext cx="10017457" cy="252043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8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solidFill>
                  <a:schemeClr val="accent6"/>
                </a:solidFill>
              </a:rPr>
              <a:t>Spotted Python</a:t>
            </a:r>
            <a:br>
              <a:rPr lang="en-US" b="1" dirty="0">
                <a:solidFill>
                  <a:schemeClr val="accent6"/>
                </a:solidFill>
              </a:rPr>
            </a:br>
            <a:r>
              <a:rPr lang="en-US" b="1" dirty="0">
                <a:solidFill>
                  <a:schemeClr val="accent5"/>
                </a:solidFill>
              </a:rPr>
              <a:t>Week 9 Tutorial</a:t>
            </a:r>
          </a:p>
        </p:txBody>
      </p:sp>
    </p:spTree>
    <p:extLst>
      <p:ext uri="{BB962C8B-B14F-4D97-AF65-F5344CB8AC3E}">
        <p14:creationId xmlns:p14="http://schemas.microsoft.com/office/powerpoint/2010/main" val="111043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6DB00-3CCA-883F-B5FB-F0CEFE73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62D7492-E3F3-7434-2B56-4AEA37819B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Photometric Redshift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FE1854F-A164-A22A-4904-59EC6B2C8B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 lnSpcReduction="100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Faster but less accurate than spectroscopic redshift</a:t>
                </a: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Template fitting to a range of galaxy spectral energy distributions (SEDs)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Function of star formation history and the geometric arrangement of stars and gas content in galaxies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Energy versus wavelength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Fitting flux inputs of an object to a range of known spectra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Best fit is determined by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AU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AU" dirty="0"/>
                  <a:t>minimisation process</a:t>
                </a:r>
              </a:p>
              <a:p>
                <a:pPr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A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AU" i="1">
                          <a:latin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</m:e>
                                            <m:sub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𝐸</m:t>
                                              </m:r>
                                            </m:e>
                                            <m:sub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nary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CFE1854F-A164-A22A-4904-59EC6B2C8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 b="-28448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1016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A82CC-8434-960D-4C92-CD7FAE5FC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E89D879-6D85-9AFD-A112-E8EA083830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Running EAZY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7FEA197-F36E-9DCA-DB25-A23881BB30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Easy and Accurate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𝑝h𝑜𝑡</m:t>
                        </m:r>
                      </m:sub>
                    </m:sSub>
                  </m:oMath>
                </a14:m>
                <a:r>
                  <a:rPr lang="en-AU" dirty="0"/>
                  <a:t> from Yale</a:t>
                </a: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Installing </a:t>
                </a:r>
                <a:r>
                  <a:rPr lang="en-AU" dirty="0" err="1"/>
                  <a:t>eazy-py</a:t>
                </a:r>
                <a:endParaRPr lang="en-AU" dirty="0"/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pip install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eazy</a:t>
                </a:r>
                <a:endParaRPr lang="en-AU" b="1" dirty="0">
                  <a:solidFill>
                    <a:schemeClr val="accent3"/>
                  </a:solidFill>
                </a:endParaRP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pip install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git+https</a:t>
                </a:r>
                <a:r>
                  <a:rPr lang="en-AU" b="1" dirty="0">
                    <a:solidFill>
                      <a:schemeClr val="accent3"/>
                    </a:solidFill>
                  </a:rPr>
                  <a:t>://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github.com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karllark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dust_attenuation.git</a:t>
                </a:r>
                <a:endParaRPr lang="en-AU" b="1" dirty="0">
                  <a:solidFill>
                    <a:schemeClr val="accent3"/>
                  </a:solidFill>
                </a:endParaRPr>
              </a:p>
              <a:p>
                <a:pPr marL="457200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dirty="0"/>
                  <a:t>Installing dust attenuation</a:t>
                </a:r>
              </a:p>
              <a:p>
                <a:pPr marL="687600" lvl="1" indent="-457200">
                  <a:lnSpc>
                    <a:spcPct val="120000"/>
                  </a:lnSpc>
                  <a:buBlip>
                    <a:blip r:embed="rId3"/>
                  </a:buBlip>
                </a:pPr>
                <a:r>
                  <a:rPr lang="en-AU" b="1" dirty="0">
                    <a:solidFill>
                      <a:schemeClr val="accent3"/>
                    </a:solidFill>
                  </a:rPr>
                  <a:t>pip install 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git+https</a:t>
                </a:r>
                <a:r>
                  <a:rPr lang="en-AU" b="1" dirty="0">
                    <a:solidFill>
                      <a:schemeClr val="accent3"/>
                    </a:solidFill>
                  </a:rPr>
                  <a:t>://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github.com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karllark</a:t>
                </a:r>
                <a:r>
                  <a:rPr lang="en-AU" b="1" dirty="0">
                    <a:solidFill>
                      <a:schemeClr val="accent3"/>
                    </a:solidFill>
                  </a:rPr>
                  <a:t>/</a:t>
                </a:r>
                <a:r>
                  <a:rPr lang="en-AU" b="1" dirty="0" err="1">
                    <a:solidFill>
                      <a:schemeClr val="accent3"/>
                    </a:solidFill>
                  </a:rPr>
                  <a:t>dust_attenuation.git</a:t>
                </a:r>
                <a:endParaRPr lang="en-AU" b="1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7FEA197-F36E-9DCA-DB25-A23881BB3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82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3C67-D7FE-C4AE-F787-85ABE74A0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CFD9B40-8D00-C50A-A971-BE15767AFBC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Initial Mass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7C53D66-49C5-95D1-FE83-670B32DC60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Initial mass function (IMF) is defined as the number of stars that have formed per unit area of the galactic disk (pc</a:t>
                </a:r>
                <a:r>
                  <a:rPr lang="en-US" baseline="30000" dirty="0"/>
                  <a:t>-2</a:t>
                </a:r>
                <a:r>
                  <a:rPr lang="en-US" dirty="0"/>
                  <a:t>) per unit logarithmic (base 10) interval</a:t>
                </a:r>
              </a:p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Miller-Scalo 1979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AU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)=0.753</m:t>
                    </m:r>
                    <m:sSup>
                      <m:sSup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AU" i="1">
                            <a:latin typeface="Cambria Math" panose="02040503050406030204" pitchFamily="18" charset="0"/>
                          </a:rPr>
                          <m:t>−1.4</m:t>
                        </m:r>
                      </m:sup>
                    </m:sSup>
                  </m:oMath>
                </a14:m>
                <a:br>
                  <a:rPr lang="en-AU" dirty="0"/>
                </a:br>
                <a:endParaRPr lang="en-US" dirty="0"/>
              </a:p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Chabrier 2003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AU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AU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AU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AU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AU" i="1">
                            <a:latin typeface="Cambria Math" panose="02040503050406030204" pitchFamily="18" charset="0"/>
                          </a:rPr>
                          <m:t>3.63</m:t>
                        </m:r>
                      </m:num>
                      <m:den>
                        <m:r>
                          <a:rPr lang="en-AU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sty m:val="p"/>
                          </m:rPr>
                          <a:rPr lang="en-AU" i="1">
                            <a:latin typeface="Cambria Math" panose="02040503050406030204" pitchFamily="18" charset="0"/>
                          </a:rPr>
                          <m:t>ln</m:t>
                        </m:r>
                        <m:r>
                          <a:rPr lang="en-AU" i="1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func>
                      <m:func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AU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A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A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A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A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AU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AU" i="1">
                                                <a:latin typeface="Cambria Math" panose="02040503050406030204" pitchFamily="18" charset="0"/>
                                              </a:rPr>
                                              <m:t>𝑀</m:t>
                                            </m:r>
                                          </m:e>
                                        </m:func>
                                        <m:r>
                                          <a:rPr lang="en-AU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unc>
                                          <m:funcPr>
                                            <m:ctrlPr>
                                              <a:rPr lang="en-A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AU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r>
                                              <a:rPr lang="en-AU" i="1">
                                                <a:latin typeface="Cambria Math" panose="02040503050406030204" pitchFamily="18" charset="0"/>
                                              </a:rPr>
                                              <m:t>0.079</m:t>
                                            </m:r>
                                          </m:e>
                                        </m:func>
                                      </m:e>
                                    </m:d>
                                  </m:e>
                                  <m:sup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AU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A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AU" i="1">
                                            <a:latin typeface="Cambria Math" panose="02040503050406030204" pitchFamily="18" charset="0"/>
                                          </a:rPr>
                                          <m:t>0.69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Both are </a:t>
                </a:r>
                <a:r>
                  <a:rPr lang="en-US" dirty="0" err="1"/>
                  <a:t>normalised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AU">
                        <a:latin typeface="Cambria Math" panose="02040503050406030204" pitchFamily="18" charset="0"/>
                      </a:rPr>
                      <m:t>0.01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≤1</m:t>
                    </m:r>
                    <m:sSub>
                      <m:sSub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AU" i="1">
                            <a:latin typeface="Cambria Math" panose="02040503050406030204" pitchFamily="18" charset="0"/>
                          </a:rPr>
                          <m:t>⊙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7C53D66-49C5-95D1-FE83-670B32DC6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778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436FD-F12F-6D68-2A0C-8088895AB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6DA995B-B48C-52F2-2E9D-39D3C3E312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Integration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754BE67-206B-104C-D8F6-FAB8A1729FF0}"/>
              </a:ext>
            </a:extLst>
          </p:cNvPr>
          <p:cNvSpPr txBox="1">
            <a:spLocks/>
          </p:cNvSpPr>
          <p:nvPr/>
        </p:nvSpPr>
        <p:spPr>
          <a:xfrm>
            <a:off x="1" y="972913"/>
            <a:ext cx="11353799" cy="5885087"/>
          </a:xfrm>
          <a:prstGeom prst="rect">
            <a:avLst/>
          </a:prstGeom>
        </p:spPr>
        <p:txBody>
          <a:bodyPr vert="horz" lIns="360000" tIns="180000" rIns="360000" bIns="18000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Calibri" panose="020F0502020204030204" pitchFamily="34" charset="0"/>
              <a:buChar char="﻿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30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4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2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Blip>
                <a:blip r:embed="rId3"/>
              </a:buBlip>
            </a:pPr>
            <a:r>
              <a:rPr lang="en-US" dirty="0" err="1"/>
              <a:t>scipy.integrate</a:t>
            </a:r>
            <a:endParaRPr lang="en-US" dirty="0"/>
          </a:p>
          <a:p>
            <a:pPr marL="1144800" lvl="2" indent="-457200">
              <a:buBlip>
                <a:blip r:embed="rId3"/>
              </a:buBlip>
            </a:pPr>
            <a:r>
              <a:rPr lang="en-US" sz="24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https://docs.scipy.org/doc/scipy/tutorial/integrate.html</a:t>
            </a:r>
            <a:endParaRPr lang="en-US" sz="2400" dirty="0">
              <a:solidFill>
                <a:schemeClr val="accent5"/>
              </a:solidFill>
            </a:endParaRPr>
          </a:p>
          <a:p>
            <a:pPr marL="1144800" lvl="2" indent="-457200">
              <a:buBlip>
                <a:blip r:embed="rId3"/>
              </a:buBlip>
            </a:pPr>
            <a:r>
              <a:rPr lang="en-US" sz="2400" dirty="0"/>
              <a:t>Provides several integration techniques</a:t>
            </a:r>
          </a:p>
          <a:p>
            <a:pPr marL="457200" indent="-457200">
              <a:buBlip>
                <a:blip r:embed="rId3"/>
              </a:buBlip>
            </a:pPr>
            <a:r>
              <a:rPr lang="en-US" dirty="0" err="1"/>
              <a:t>np.trapz</a:t>
            </a:r>
            <a:endParaRPr lang="en-US" dirty="0"/>
          </a:p>
          <a:p>
            <a:pPr marL="1144800" lvl="2" indent="-457200">
              <a:buBlip>
                <a:blip r:embed="rId3"/>
              </a:buBlip>
            </a:pPr>
            <a:r>
              <a:rPr lang="en-US" sz="24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https://numpy.org/doc/1.15/reference/generated/numpy.trapz.html</a:t>
            </a:r>
            <a:endParaRPr lang="en-US" sz="2400" dirty="0">
              <a:solidFill>
                <a:schemeClr val="accent5"/>
              </a:solidFill>
            </a:endParaRPr>
          </a:p>
          <a:p>
            <a:pPr marL="1144800" lvl="2" indent="-457200">
              <a:buBlip>
                <a:blip r:embed="rId3"/>
              </a:buBlip>
            </a:pPr>
            <a:r>
              <a:rPr lang="en-US" sz="2400" dirty="0"/>
              <a:t>Integrates along the given axis using the composite trapezoidal rule</a:t>
            </a:r>
          </a:p>
          <a:p>
            <a:pPr marL="457200" indent="-457200">
              <a:buBlip>
                <a:blip r:embed="rId3"/>
              </a:buBlip>
            </a:pPr>
            <a:r>
              <a:rPr lang="en-US" dirty="0"/>
              <a:t>Complete </a:t>
            </a:r>
            <a:r>
              <a:rPr lang="en-US" b="1" dirty="0"/>
              <a:t>Exercise 1</a:t>
            </a:r>
          </a:p>
        </p:txBody>
      </p:sp>
    </p:spTree>
    <p:extLst>
      <p:ext uri="{BB962C8B-B14F-4D97-AF65-F5344CB8AC3E}">
        <p14:creationId xmlns:p14="http://schemas.microsoft.com/office/powerpoint/2010/main" val="404897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DC2D3-EB89-3CCB-9EB8-3AD07E43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A64F31B-5E02-60F0-675F-C2B3B785298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Equivalent Width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6463D5B-4523-2733-E3EE-8C770C6FBD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</p:spPr>
            <p:txBody>
              <a:bodyPr vert="horz" lIns="360000" tIns="180000" rIns="360000" bIns="18000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Calibri" panose="020F0502020204030204" pitchFamily="34" charset="0"/>
                  <a:buChar char="﻿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30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7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144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Measure of the area of a spectra line</a:t>
                </a:r>
              </a:p>
              <a:p>
                <a:pPr marL="457200" indent="-457200">
                  <a:buBlip>
                    <a:blip r:embed="rId3"/>
                  </a:buBlip>
                </a:pPr>
                <a:r>
                  <a:rPr lang="en-US" dirty="0"/>
                  <a:t>Form a rectangle with a height equal to the continuum emission and finding the width such that the area of the rectangle is equal to the area in the spectral line. For absorption lines: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AU" i="1">
                            <a:latin typeface="Cambria Math" panose="02040503050406030204" pitchFamily="18" charset="0"/>
                          </a:rPr>
                          <m:t>𝜆</m:t>
                        </m:r>
                      </m:sub>
                    </m:sSub>
                    <m:r>
                      <a:rPr lang="en-AU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AU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en-A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AU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AU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nary>
                    <m:r>
                      <a:rPr lang="en-AU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AU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br>
                  <a:rPr lang="en-AU" dirty="0"/>
                </a:br>
                <a:br>
                  <a:rPr lang="en-AU" dirty="0"/>
                </a:br>
                <a:r>
                  <a:rPr lang="en-AU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AU" i="1" dirty="0">
                            <a:latin typeface="Cambria Math" panose="02040503050406030204" pitchFamily="18" charset="0"/>
                          </a:rPr>
                          <m:t>𝜆</m:t>
                        </m:r>
                      </m:sub>
                    </m:sSub>
                  </m:oMath>
                </a14:m>
                <a:r>
                  <a:rPr lang="en-AU" dirty="0"/>
                  <a:t> is the flux of the spectra line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AU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AU" dirty="0"/>
                  <a:t> is the flux of the continuum</a:t>
                </a:r>
              </a:p>
              <a:p>
                <a:pPr marL="457200" indent="-457200">
                  <a:buBlip>
                    <a:blip r:embed="rId3"/>
                  </a:buBlip>
                </a:pPr>
                <a:r>
                  <a:rPr lang="en-AU" dirty="0"/>
                  <a:t>Complete </a:t>
                </a:r>
                <a:r>
                  <a:rPr lang="en-AU" b="1" dirty="0"/>
                  <a:t>Exercise 2</a:t>
                </a:r>
                <a:endParaRPr lang="en-US" b="1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6463D5B-4523-2733-E3EE-8C770C6FB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972913"/>
                <a:ext cx="11353799" cy="58850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528DE533-0FE5-3562-9BB0-A9D419BD23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401" t="12457" r="8998" b="4806"/>
          <a:stretch/>
        </p:blipFill>
        <p:spPr>
          <a:xfrm>
            <a:off x="9010691" y="4938096"/>
            <a:ext cx="2343108" cy="189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92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9DD5A-6FEA-1AD4-48EC-38E9B619E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7462CC-4FEC-4C32-DB43-71C1CD6C60B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353799" cy="972913"/>
          </a:xfrm>
          <a:prstGeom prst="rect">
            <a:avLst/>
          </a:prstGeom>
        </p:spPr>
        <p:txBody>
          <a:bodyPr vert="horz" wrap="square" lIns="360000" tIns="180000" rIns="360000" bIns="18000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b="1" dirty="0">
                <a:solidFill>
                  <a:schemeClr val="accent6"/>
                </a:solidFill>
              </a:rPr>
              <a:t>Cosmological Calculator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0E86430-08F5-BBB4-E86E-0DAA5F626879}"/>
              </a:ext>
            </a:extLst>
          </p:cNvPr>
          <p:cNvSpPr txBox="1">
            <a:spLocks/>
          </p:cNvSpPr>
          <p:nvPr/>
        </p:nvSpPr>
        <p:spPr>
          <a:xfrm>
            <a:off x="1" y="972913"/>
            <a:ext cx="11353799" cy="5885087"/>
          </a:xfrm>
          <a:prstGeom prst="rect">
            <a:avLst/>
          </a:prstGeom>
        </p:spPr>
        <p:txBody>
          <a:bodyPr vert="horz" lIns="360000" tIns="180000" rIns="360000" bIns="18000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Calibri" panose="020F0502020204030204" pitchFamily="34" charset="0"/>
              <a:buChar char="﻿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30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7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44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2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Blip>
                <a:blip r:embed="rId3"/>
              </a:buBlip>
            </a:pPr>
            <a:r>
              <a:rPr lang="en-US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https://cosmocalc.icrar.org/</a:t>
            </a:r>
            <a:endParaRPr lang="en-US" dirty="0">
              <a:solidFill>
                <a:schemeClr val="accent5"/>
              </a:solidFill>
            </a:endParaRPr>
          </a:p>
          <a:p>
            <a:pPr marL="457200" indent="-457200">
              <a:buBlip>
                <a:blip r:embed="rId3"/>
              </a:buBlip>
            </a:pPr>
            <a:r>
              <a:rPr lang="en-US" dirty="0" err="1"/>
              <a:t>astropy.cosmology</a:t>
            </a:r>
            <a:endParaRPr lang="en-US" dirty="0"/>
          </a:p>
          <a:p>
            <a:pPr marL="1144800" lvl="2" indent="-457200">
              <a:buBlip>
                <a:blip r:embed="rId3"/>
              </a:buBlip>
            </a:pPr>
            <a:r>
              <a:rPr lang="en-US" sz="24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https://docs.astropy.org/en/stable/cosmology/index.html</a:t>
            </a:r>
            <a:endParaRPr lang="en-US" sz="2400" dirty="0">
              <a:solidFill>
                <a:schemeClr val="accent5"/>
              </a:solidFill>
            </a:endParaRPr>
          </a:p>
          <a:p>
            <a:pPr marL="457200" indent="-457200">
              <a:buBlip>
                <a:blip r:embed="rId3"/>
              </a:buBlip>
            </a:pPr>
            <a:r>
              <a:rPr lang="en-US" dirty="0"/>
              <a:t>Test the consequences of changing the cosmological parameters</a:t>
            </a:r>
          </a:p>
        </p:txBody>
      </p:sp>
    </p:spTree>
    <p:extLst>
      <p:ext uri="{BB962C8B-B14F-4D97-AF65-F5344CB8AC3E}">
        <p14:creationId xmlns:p14="http://schemas.microsoft.com/office/powerpoint/2010/main" val="660822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54C697EB-31BA-594B-8371-830AA3B8DDF7}"/>
    </a:ext>
  </a:extLst>
</a:theme>
</file>

<file path=ppt/theme/theme2.xml><?xml version="1.0" encoding="utf-8"?>
<a:theme xmlns:a="http://schemas.openxmlformats.org/drawingml/2006/main" name="1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8D2F9C57-5267-5947-A8E1-1D6CBD5EA1CB}"/>
    </a:ext>
  </a:extLst>
</a:theme>
</file>

<file path=ppt/theme/theme3.xml><?xml version="1.0" encoding="utf-8"?>
<a:theme xmlns:a="http://schemas.openxmlformats.org/drawingml/2006/main" name="2_Custom Design">
  <a:themeElements>
    <a:clrScheme name="UNSW_2020">
      <a:dk1>
        <a:srgbClr val="000000"/>
      </a:dk1>
      <a:lt1>
        <a:sysClr val="window" lastClr="FFFFFF"/>
      </a:lt1>
      <a:dk2>
        <a:srgbClr val="737373"/>
      </a:dk2>
      <a:lt2>
        <a:srgbClr val="F2F2F2"/>
      </a:lt2>
      <a:accent1>
        <a:srgbClr val="FFDC00"/>
      </a:accent1>
      <a:accent2>
        <a:srgbClr val="FF635D"/>
      </a:accent2>
      <a:accent3>
        <a:srgbClr val="3F61C4"/>
      </a:accent3>
      <a:accent4>
        <a:srgbClr val="1AC987"/>
      </a:accent4>
      <a:accent5>
        <a:srgbClr val="FA91B6"/>
      </a:accent5>
      <a:accent6>
        <a:srgbClr val="8A68C8"/>
      </a:accent6>
      <a:hlink>
        <a:srgbClr val="0000FF"/>
      </a:hlink>
      <a:folHlink>
        <a:srgbClr val="7030A0"/>
      </a:folHlink>
    </a:clrScheme>
    <a:fontScheme name="UNSW Clancy">
      <a:majorFont>
        <a:latin typeface="Clancy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43C86033-D870-044B-8631-3F2E30373302}" vid="{2513D8CB-3B6B-5547-A331-D7470A3DFC1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022E11B6C55F458F03297D129AC5C7" ma:contentTypeVersion="16" ma:contentTypeDescription="Create a new document." ma:contentTypeScope="" ma:versionID="c5de254797c2e30b1c1dab67e1fdd087">
  <xsd:schema xmlns:xsd="http://www.w3.org/2001/XMLSchema" xmlns:xs="http://www.w3.org/2001/XMLSchema" xmlns:p="http://schemas.microsoft.com/office/2006/metadata/properties" xmlns:ns2="3e861e5c-b9b4-4f4a-a39d-d4f58c595d50" xmlns:ns3="3d8a2230-54d9-4525-a072-aaf2ad3921af" targetNamespace="http://schemas.microsoft.com/office/2006/metadata/properties" ma:root="true" ma:fieldsID="40d7e893f6517adbc7421dea239a8bfb" ns2:_="" ns3:_="">
    <xsd:import namespace="3e861e5c-b9b4-4f4a-a39d-d4f58c595d50"/>
    <xsd:import namespace="3d8a2230-54d9-4525-a072-aaf2ad3921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861e5c-b9b4-4f4a-a39d-d4f58c595d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b026aac-6b52-4d7e-a64d-f3ee90946f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a2230-54d9-4525-a072-aaf2ad3921a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f9d5615-4cdb-4eba-9af8-b29b99cf6c5f}" ma:internalName="TaxCatchAll" ma:showField="CatchAllData" ma:web="3d8a2230-54d9-4525-a072-aaf2ad3921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d8a2230-54d9-4525-a072-aaf2ad3921af" xsi:nil="true"/>
    <lcf76f155ced4ddcb4097134ff3c332f xmlns="3e861e5c-b9b4-4f4a-a39d-d4f58c595d50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CEC6E53-DE09-48B9-92A5-3EADF1FB28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861e5c-b9b4-4f4a-a39d-d4f58c595d50"/>
    <ds:schemaRef ds:uri="3d8a2230-54d9-4525-a072-aaf2ad3921a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4CE31FE-9010-4DD9-ACBF-74A5EE27FA83}">
  <ds:schemaRefs>
    <ds:schemaRef ds:uri="http://schemas.microsoft.com/office/2006/metadata/properties"/>
    <ds:schemaRef ds:uri="http://schemas.microsoft.com/office/infopath/2007/PartnerControls"/>
    <ds:schemaRef ds:uri="3d8a2230-54d9-4525-a072-aaf2ad3921af"/>
    <ds:schemaRef ds:uri="3e861e5c-b9b4-4f4a-a39d-d4f58c595d50"/>
  </ds:schemaRefs>
</ds:datastoreItem>
</file>

<file path=customXml/itemProps3.xml><?xml version="1.0" encoding="utf-8"?>
<ds:datastoreItem xmlns:ds="http://schemas.openxmlformats.org/officeDocument/2006/customXml" ds:itemID="{76F36D4B-89AA-43AA-A4F8-41021B5395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12362</TotalTime>
  <Words>368</Words>
  <Application>Microsoft Macintosh PowerPoint</Application>
  <PresentationFormat>Widescreen</PresentationFormat>
  <Paragraphs>45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Clancy</vt:lpstr>
      <vt:lpstr>Arial</vt:lpstr>
      <vt:lpstr>Calibri</vt:lpstr>
      <vt:lpstr>Cambria Math</vt:lpstr>
      <vt:lpstr>Roboto</vt:lpstr>
      <vt:lpstr>Office Theme</vt:lpstr>
      <vt:lpstr>1_Custom Design</vt:lpstr>
      <vt:lpstr>2_Custom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Michelle Ding</dc:creator>
  <cp:lastModifiedBy>Michelle Ding</cp:lastModifiedBy>
  <cp:revision>25</cp:revision>
  <dcterms:created xsi:type="dcterms:W3CDTF">2024-09-05T14:10:30Z</dcterms:created>
  <dcterms:modified xsi:type="dcterms:W3CDTF">2025-11-13T02:37:54Z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0x010100F4022E11B6C55F458F03297D129AC5C7</vt:lpwstr>
  </property>
</Properties>
</file>