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14"/>
  </p:notesMasterIdLst>
  <p:handoutMasterIdLst>
    <p:handoutMasterId r:id="rId15"/>
  </p:handoutMasterIdLst>
  <p:sldIdLst>
    <p:sldId id="258" r:id="rId7"/>
    <p:sldId id="299" r:id="rId8"/>
    <p:sldId id="300" r:id="rId9"/>
    <p:sldId id="301" r:id="rId10"/>
    <p:sldId id="302" r:id="rId11"/>
    <p:sldId id="30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5D"/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86757" autoAdjust="0"/>
  </p:normalViewPr>
  <p:slideViewPr>
    <p:cSldViewPr snapToGrid="0" snapToObjects="1">
      <p:cViewPr varScale="1">
        <p:scale>
          <a:sx n="87" d="100"/>
          <a:sy n="87" d="100"/>
        </p:scale>
        <p:origin x="8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8613-5FEB-88E1-49CF-A547796E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889AE-60EC-4AFD-8F9A-DD968F0DF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17004-B03C-7D44-1B68-97DAF812B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57DDE-0892-9F40-AA27-978817628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6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E6F51-3311-9120-654E-DD57DAD4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D1989-F40D-008E-886B-EFD2EFA53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947F3-B82B-823A-A7C5-24A8BD296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51369-76D2-9EAA-8CA4-86B5424A2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29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812A4-FC80-CF99-01F1-D96DC508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D7D21-35B9-EFD0-0E50-E4B1B2AA2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F4AAE-8802-64E7-FEDE-FEBA3247E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3FF30-E58E-A262-062C-2D13110A2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56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7EE7-047B-36C8-F972-E8DFBA87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7A4E7-CE3F-B0DA-BE34-DDBEF7FB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5251-F99A-34E1-2CA9-92B560537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59496-2B45-BE6C-C7BA-A3DC3B28D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8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3230-388C-342F-3CA8-57FF09B2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2A7BD-FE25-8367-3B03-3470438EE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915CF-DB43-E5BD-32A3-FC94F85CD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D9A99-AD22-8F4B-9FEA-78EEE8CF2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59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191F-5A96-9E63-A06A-8698D063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4F0AA-9059-6ED1-C5C2-CC332CADD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87CE2-C011-8324-AA08-35C990F7E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44FD1-BF50-890E-5A81-A72C10FB1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6ACD0-BE8A-3D4B-8E89-B0E6ACFF59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9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385383" y="-277157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E4149BEC-B55D-3611-DBCF-0E9A57DC67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0014F36-07A5-3AE9-AB47-224C3C934A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93600" y="5419759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064B1A81-90D8-9D68-62EB-C2915DE66A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0400" y="275357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13/11/2025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13/11/2025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12" r:id="rId10"/>
    <p:sldLayoutId id="2147483713" r:id="rId11"/>
    <p:sldLayoutId id="214748371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numpy.org/doc/1.15/reference/generated/numpy.trapz.html" TargetMode="External"/><Relationship Id="rId4" Type="http://schemas.openxmlformats.org/officeDocument/2006/relationships/hyperlink" Target="https://docs.scipy.org/doc/scipy/tutorial/integrate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docs.astropy.org/en/stable/cosmology/index.html" TargetMode="External"/><Relationship Id="rId4" Type="http://schemas.openxmlformats.org/officeDocument/2006/relationships/hyperlink" Target="https://cosmocalc.icra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C31E8A-07CC-939B-F7AC-6A4366E11BF6}"/>
              </a:ext>
            </a:extLst>
          </p:cNvPr>
          <p:cNvSpPr txBox="1">
            <a:spLocks/>
          </p:cNvSpPr>
          <p:nvPr/>
        </p:nvSpPr>
        <p:spPr>
          <a:xfrm>
            <a:off x="10017457" y="5380672"/>
            <a:ext cx="2174543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﻿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en-US" dirty="0"/>
              <a:t>Photometric redshift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8E9F7F-51B7-148D-9969-67DFEC653597}"/>
              </a:ext>
            </a:extLst>
          </p:cNvPr>
          <p:cNvSpPr txBox="1">
            <a:spLocks/>
          </p:cNvSpPr>
          <p:nvPr/>
        </p:nvSpPr>
        <p:spPr>
          <a:xfrm>
            <a:off x="0" y="2168785"/>
            <a:ext cx="10017457" cy="2520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accent6"/>
                </a:solidFill>
              </a:rPr>
              <a:t>Spotted Python</a:t>
            </a:r>
            <a:br>
              <a:rPr lang="en-US" b="1" dirty="0">
                <a:solidFill>
                  <a:schemeClr val="accent6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Week 9 Tutorial</a:t>
            </a:r>
          </a:p>
        </p:txBody>
      </p:sp>
    </p:spTree>
    <p:extLst>
      <p:ext uri="{BB962C8B-B14F-4D97-AF65-F5344CB8AC3E}">
        <p14:creationId xmlns:p14="http://schemas.microsoft.com/office/powerpoint/2010/main" val="11104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DB00-3CCA-883F-B5FB-F0CEFE73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2D7492-E3F3-7434-2B56-4AEA37819B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Photometric Redshift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FE1854F-A164-A22A-4904-59EC6B2C8B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</p:spPr>
            <p:txBody>
              <a:bodyPr vert="horz" lIns="360000" tIns="180000" rIns="360000" bIns="180000" rtlCol="0">
                <a:normAutofit lnSpcReduction="100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﻿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0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Faster but less accurate than spectroscopic redshift</a:t>
                </a:r>
              </a:p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Template fitting to a range of galaxy spectral energy distributions (SEDs)</a:t>
                </a:r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Function of star formation history and the geometric arrangement of stars and gas content in galaxies</a:t>
                </a:r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Energy versus wavelength</a:t>
                </a:r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Fitting flux inputs of an object to a range of known spectra</a:t>
                </a:r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Best fit is determined by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AU" dirty="0"/>
                  <a:t>minimisation process</a:t>
                </a:r>
              </a:p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i="1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A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A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A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FE1854F-A164-A22A-4904-59EC6B2C8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  <a:blipFill>
                <a:blip r:embed="rId4"/>
                <a:stretch>
                  <a:fillRect b="-284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01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A82CC-8434-960D-4C92-CD7FAE5FC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89D879-6D85-9AFD-A112-E8EA083830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Running EAZY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FEA197-F36E-9DCA-DB25-A23881BB30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</p:spPr>
            <p:txBody>
              <a:bodyPr vert="horz" lIns="360000" tIns="180000" rIns="360000" bIns="18000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﻿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0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Easy and Accurate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𝑝h𝑜𝑡</m:t>
                        </m:r>
                      </m:sub>
                    </m:sSub>
                  </m:oMath>
                </a14:m>
                <a:r>
                  <a:rPr lang="en-AU" dirty="0"/>
                  <a:t> from Yale</a:t>
                </a:r>
              </a:p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Installing </a:t>
                </a:r>
                <a:r>
                  <a:rPr lang="en-AU" dirty="0" err="1"/>
                  <a:t>eazy-py</a:t>
                </a:r>
                <a:endParaRPr lang="en-AU" dirty="0"/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b="1" dirty="0">
                    <a:solidFill>
                      <a:schemeClr val="accent3"/>
                    </a:solidFill>
                  </a:rPr>
                  <a:t>pip install </a:t>
                </a:r>
                <a:r>
                  <a:rPr lang="en-AU" b="1" dirty="0" err="1">
                    <a:solidFill>
                      <a:schemeClr val="accent3"/>
                    </a:solidFill>
                  </a:rPr>
                  <a:t>eazy</a:t>
                </a:r>
                <a:endParaRPr lang="en-AU" b="1" dirty="0">
                  <a:solidFill>
                    <a:schemeClr val="accent3"/>
                  </a:solidFill>
                </a:endParaRPr>
              </a:p>
              <a:p>
                <a:pPr marL="457200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dirty="0"/>
                  <a:t>Installing dust attenuation</a:t>
                </a:r>
              </a:p>
              <a:p>
                <a:pPr marL="687600" lvl="1" indent="-457200">
                  <a:lnSpc>
                    <a:spcPct val="120000"/>
                  </a:lnSpc>
                  <a:buBlip>
                    <a:blip r:embed="rId3"/>
                  </a:buBlip>
                </a:pPr>
                <a:r>
                  <a:rPr lang="en-AU" b="1" dirty="0">
                    <a:solidFill>
                      <a:schemeClr val="accent3"/>
                    </a:solidFill>
                  </a:rPr>
                  <a:t>pip install </a:t>
                </a:r>
                <a:r>
                  <a:rPr lang="en-AU" b="1" dirty="0" err="1">
                    <a:solidFill>
                      <a:schemeClr val="accent3"/>
                    </a:solidFill>
                  </a:rPr>
                  <a:t>git+https</a:t>
                </a:r>
                <a:r>
                  <a:rPr lang="en-AU" b="1" dirty="0">
                    <a:solidFill>
                      <a:schemeClr val="accent3"/>
                    </a:solidFill>
                  </a:rPr>
                  <a:t>://</a:t>
                </a:r>
                <a:r>
                  <a:rPr lang="en-AU" b="1" dirty="0" err="1">
                    <a:solidFill>
                      <a:schemeClr val="accent3"/>
                    </a:solidFill>
                  </a:rPr>
                  <a:t>github.com</a:t>
                </a:r>
                <a:r>
                  <a:rPr lang="en-AU" b="1" dirty="0">
                    <a:solidFill>
                      <a:schemeClr val="accent3"/>
                    </a:solidFill>
                  </a:rPr>
                  <a:t>/</a:t>
                </a:r>
                <a:r>
                  <a:rPr lang="en-AU" b="1" dirty="0" err="1">
                    <a:solidFill>
                      <a:schemeClr val="accent3"/>
                    </a:solidFill>
                  </a:rPr>
                  <a:t>karllark</a:t>
                </a:r>
                <a:r>
                  <a:rPr lang="en-AU" b="1" dirty="0">
                    <a:solidFill>
                      <a:schemeClr val="accent3"/>
                    </a:solidFill>
                  </a:rPr>
                  <a:t>/</a:t>
                </a:r>
                <a:r>
                  <a:rPr lang="en-AU" b="1" dirty="0" err="1">
                    <a:solidFill>
                      <a:schemeClr val="accent3"/>
                    </a:solidFill>
                  </a:rPr>
                  <a:t>dust_attenuation.git</a:t>
                </a:r>
                <a:endParaRPr lang="en-AU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7FEA197-F36E-9DCA-DB25-A23881BB3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82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3C67-D7FE-C4AE-F787-85ABE74A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FD9B40-8D00-C50A-A971-BE15767AFB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Initial Mass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7C53D66-49C5-95D1-FE83-670B32DC60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</p:spPr>
            <p:txBody>
              <a:bodyPr vert="horz" lIns="360000" tIns="180000" rIns="360000" bIns="18000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﻿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0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Initial mass function (IMF) is defined as the number of stars that have formed per unit area of the galactic disk (pc</a:t>
                </a:r>
                <a:r>
                  <a:rPr lang="en-US" baseline="30000" dirty="0"/>
                  <a:t>-2</a:t>
                </a:r>
                <a:r>
                  <a:rPr lang="en-US" dirty="0"/>
                  <a:t>) per unit logarithmic (base 10) interval</a:t>
                </a:r>
              </a:p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Miller-Scalo 1979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)=0.753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−1.4</m:t>
                        </m:r>
                      </m:sup>
                    </m:sSup>
                  </m:oMath>
                </a14:m>
                <a:br>
                  <a:rPr lang="en-AU" dirty="0"/>
                </a:br>
                <a:endParaRPr lang="en-US" dirty="0"/>
              </a:p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Chabrier 2003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3.63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AU" i="1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func>
                      <m:func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A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AU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AU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func>
                                        <m: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A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AU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AU" i="1">
                                                <a:latin typeface="Cambria Math" panose="02040503050406030204" pitchFamily="18" charset="0"/>
                                              </a:rPr>
                                              <m:t>0.079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A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AU" i="1">
                                            <a:latin typeface="Cambria Math" panose="02040503050406030204" pitchFamily="18" charset="0"/>
                                          </a:rPr>
                                          <m:t>0.69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Both are </a:t>
                </a:r>
                <a:r>
                  <a:rPr lang="en-US" dirty="0" err="1"/>
                  <a:t>normalised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AU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≤1</m:t>
                    </m:r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⊙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7C53D66-49C5-95D1-FE83-670B32DC6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77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36FD-F12F-6D68-2A0C-8088895A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DA995B-B48C-52F2-2E9D-39D3C3E312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Integration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54BE67-206B-104C-D8F6-FAB8A1729FF0}"/>
              </a:ext>
            </a:extLst>
          </p:cNvPr>
          <p:cNvSpPr txBox="1">
            <a:spLocks/>
          </p:cNvSpPr>
          <p:nvPr/>
        </p:nvSpPr>
        <p:spPr>
          <a:xfrm>
            <a:off x="1" y="972913"/>
            <a:ext cx="11353799" cy="5885087"/>
          </a:xfrm>
          <a:prstGeom prst="rect">
            <a:avLst/>
          </a:prstGeom>
        </p:spPr>
        <p:txBody>
          <a:bodyPr vert="horz" lIns="360000" tIns="180000" rIns="360000" bIns="18000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Blip>
                <a:blip r:embed="rId3"/>
              </a:buBlip>
            </a:pPr>
            <a:r>
              <a:rPr lang="en-US" dirty="0" err="1"/>
              <a:t>scipy.integrate</a:t>
            </a:r>
            <a:endParaRPr lang="en-US" dirty="0"/>
          </a:p>
          <a:p>
            <a:pPr marL="1144800" lvl="2" indent="-457200">
              <a:buBlip>
                <a:blip r:embed="rId3"/>
              </a:buBlip>
            </a:pPr>
            <a:r>
              <a:rPr lang="en-US" sz="2400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https://docs.scipy.org/doc/scipy/tutorial/integrate.html</a:t>
            </a:r>
            <a:endParaRPr lang="en-US" sz="2400" dirty="0">
              <a:solidFill>
                <a:schemeClr val="accent5"/>
              </a:solidFill>
            </a:endParaRPr>
          </a:p>
          <a:p>
            <a:pPr marL="1144800" lvl="2" indent="-457200">
              <a:buBlip>
                <a:blip r:embed="rId3"/>
              </a:buBlip>
            </a:pPr>
            <a:r>
              <a:rPr lang="en-US" sz="2400" dirty="0"/>
              <a:t>Provides several integration techniques</a:t>
            </a:r>
          </a:p>
          <a:p>
            <a:pPr marL="457200" indent="-457200">
              <a:buBlip>
                <a:blip r:embed="rId3"/>
              </a:buBlip>
            </a:pPr>
            <a:r>
              <a:rPr lang="en-US" dirty="0" err="1"/>
              <a:t>np.trapz</a:t>
            </a:r>
            <a:endParaRPr lang="en-US" dirty="0"/>
          </a:p>
          <a:p>
            <a:pPr marL="1144800" lvl="2" indent="-457200">
              <a:buBlip>
                <a:blip r:embed="rId3"/>
              </a:buBlip>
            </a:pPr>
            <a:r>
              <a:rPr lang="en-US" sz="2400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https://numpy.org/doc/1.15/reference/generated/numpy.trapz.html</a:t>
            </a:r>
            <a:endParaRPr lang="en-US" sz="2400" dirty="0">
              <a:solidFill>
                <a:schemeClr val="accent5"/>
              </a:solidFill>
            </a:endParaRPr>
          </a:p>
          <a:p>
            <a:pPr marL="1144800" lvl="2" indent="-457200">
              <a:buBlip>
                <a:blip r:embed="rId3"/>
              </a:buBlip>
            </a:pPr>
            <a:r>
              <a:rPr lang="en-US" sz="2400" dirty="0"/>
              <a:t>Integrates along the given axis using the composite trapezoidal rule</a:t>
            </a:r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Complete </a:t>
            </a:r>
            <a:r>
              <a:rPr lang="en-US" b="1" dirty="0"/>
              <a:t>Exercise 1</a:t>
            </a:r>
          </a:p>
        </p:txBody>
      </p:sp>
    </p:spTree>
    <p:extLst>
      <p:ext uri="{BB962C8B-B14F-4D97-AF65-F5344CB8AC3E}">
        <p14:creationId xmlns:p14="http://schemas.microsoft.com/office/powerpoint/2010/main" val="40489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DC2D3-EB89-3CCB-9EB8-3AD07E43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64F31B-5E02-60F0-675F-C2B3B78529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Equivalent 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6463D5B-4523-2733-E3EE-8C770C6FB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</p:spPr>
            <p:txBody>
              <a:bodyPr vert="horz" lIns="360000" tIns="180000" rIns="360000" bIns="18000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﻿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30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4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Measure of the area of a spectra line</a:t>
                </a:r>
              </a:p>
              <a:p>
                <a:pPr marL="457200" indent="-457200">
                  <a:buBlip>
                    <a:blip r:embed="rId3"/>
                  </a:buBlip>
                </a:pPr>
                <a:r>
                  <a:rPr lang="en-US" dirty="0"/>
                  <a:t>Form a rectangle with a height equal to the continuum emission and finding the width such that the area of the rectangle is equal to the area in the spectral line. For absorption lines: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AU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  <m:r>
                      <a:rPr lang="en-AU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br>
                  <a:rPr lang="en-AU" dirty="0"/>
                </a:br>
                <a:br>
                  <a:rPr lang="en-AU" dirty="0"/>
                </a:br>
                <a:r>
                  <a:rPr lang="en-AU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dirty="0"/>
                  <a:t> is the flux of the spectra line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AU" dirty="0"/>
                  <a:t> is the flux of the continuum</a:t>
                </a:r>
              </a:p>
              <a:p>
                <a:pPr marL="457200" indent="-457200">
                  <a:buBlip>
                    <a:blip r:embed="rId3"/>
                  </a:buBlip>
                </a:pPr>
                <a:r>
                  <a:rPr lang="en-AU" dirty="0"/>
                  <a:t>Complete </a:t>
                </a:r>
                <a:r>
                  <a:rPr lang="en-AU" b="1" dirty="0"/>
                  <a:t>Exercise 2</a:t>
                </a:r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6463D5B-4523-2733-E3EE-8C770C6FB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972913"/>
                <a:ext cx="11353799" cy="5885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28DE533-0FE5-3562-9BB0-A9D419BD23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01" t="12457" r="8998" b="4806"/>
          <a:stretch/>
        </p:blipFill>
        <p:spPr>
          <a:xfrm>
            <a:off x="9010691" y="4938096"/>
            <a:ext cx="2343108" cy="18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9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DD5A-6FEA-1AD4-48EC-38E9B61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7462CC-4FEC-4C32-DB43-71C1CD6C60B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3799" cy="972913"/>
          </a:xfrm>
          <a:prstGeom prst="rect">
            <a:avLst/>
          </a:prstGeom>
        </p:spPr>
        <p:txBody>
          <a:bodyPr vert="horz" wrap="square" lIns="360000" tIns="180000" rIns="360000" bIns="1800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solidFill>
                  <a:schemeClr val="accent6"/>
                </a:solidFill>
              </a:rPr>
              <a:t>Cosmological Calculator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E86430-08F5-BBB4-E86E-0DAA5F626879}"/>
              </a:ext>
            </a:extLst>
          </p:cNvPr>
          <p:cNvSpPr txBox="1">
            <a:spLocks/>
          </p:cNvSpPr>
          <p:nvPr/>
        </p:nvSpPr>
        <p:spPr>
          <a:xfrm>
            <a:off x="1" y="972913"/>
            <a:ext cx="11353799" cy="5885087"/>
          </a:xfrm>
          <a:prstGeom prst="rect">
            <a:avLst/>
          </a:prstGeom>
        </p:spPr>
        <p:txBody>
          <a:bodyPr vert="horz" lIns="360000" tIns="180000" rIns="360000" bIns="18000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Blip>
                <a:blip r:embed="rId3"/>
              </a:buBlip>
            </a:pPr>
            <a:r>
              <a:rPr lang="en-US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https://cosmocalc.icrar.org/</a:t>
            </a:r>
            <a:endParaRPr lang="en-US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3"/>
              </a:buBlip>
            </a:pPr>
            <a:r>
              <a:rPr lang="en-US" dirty="0" err="1"/>
              <a:t>astropy.cosmology</a:t>
            </a:r>
            <a:endParaRPr lang="en-US" dirty="0"/>
          </a:p>
          <a:p>
            <a:pPr marL="1144800" lvl="2" indent="-457200">
              <a:buBlip>
                <a:blip r:embed="rId3"/>
              </a:buBlip>
            </a:pPr>
            <a:r>
              <a:rPr lang="en-US" sz="2400" dirty="0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https://docs.astropy.org/en/stable/cosmology/index.html</a:t>
            </a:r>
            <a:endParaRPr lang="en-US" sz="2400" dirty="0">
              <a:solidFill>
                <a:schemeClr val="accent5"/>
              </a:solidFill>
            </a:endParaRPr>
          </a:p>
          <a:p>
            <a:pPr marL="457200" indent="-457200">
              <a:buBlip>
                <a:blip r:embed="rId3"/>
              </a:buBlip>
            </a:pPr>
            <a:r>
              <a:rPr lang="en-US" dirty="0"/>
              <a:t>Test the consequences of changing the cosmological parameters</a:t>
            </a:r>
          </a:p>
        </p:txBody>
      </p:sp>
    </p:spTree>
    <p:extLst>
      <p:ext uri="{BB962C8B-B14F-4D97-AF65-F5344CB8AC3E}">
        <p14:creationId xmlns:p14="http://schemas.microsoft.com/office/powerpoint/2010/main" val="66082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54C697EB-31BA-594B-8371-830AA3B8DDF7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8D2F9C57-5267-5947-A8E1-1D6CBD5EA1CB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43C86033-D870-044B-8631-3F2E30373302}" vid="{2513D8CB-3B6B-5547-A331-D7470A3DFC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CE31FE-9010-4DD9-ACBF-74A5EE27FA83}">
  <ds:schemaRefs>
    <ds:schemaRef ds:uri="http://schemas.microsoft.com/office/2006/metadata/properties"/>
    <ds:schemaRef ds:uri="http://schemas.microsoft.com/office/infopath/2007/PartnerControls"/>
    <ds:schemaRef ds:uri="3d8a2230-54d9-4525-a072-aaf2ad3921af"/>
    <ds:schemaRef ds:uri="3e861e5c-b9b4-4f4a-a39d-d4f58c595d50"/>
  </ds:schemaRefs>
</ds:datastoreItem>
</file>

<file path=customXml/itemProps2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12362</TotalTime>
  <Words>351</Words>
  <Application>Microsoft Macintosh PowerPoint</Application>
  <PresentationFormat>Widescreen</PresentationFormat>
  <Paragraphs>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Clancy</vt:lpstr>
      <vt:lpstr>Arial</vt:lpstr>
      <vt:lpstr>Calibri</vt:lpstr>
      <vt:lpstr>Cambria Math</vt:lpstr>
      <vt:lpstr>Roboto</vt:lpstr>
      <vt:lpstr>Office Theme</vt:lpstr>
      <vt:lpstr>1_Custom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Ding</dc:creator>
  <cp:lastModifiedBy>Michelle Ding</cp:lastModifiedBy>
  <cp:revision>26</cp:revision>
  <dcterms:created xsi:type="dcterms:W3CDTF">2024-09-05T14:10:30Z</dcterms:created>
  <dcterms:modified xsi:type="dcterms:W3CDTF">2025-11-13T03:17:06Z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